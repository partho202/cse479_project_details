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6" r:id="rId7"/>
    <p:sldId id="260" r:id="rId8"/>
    <p:sldId id="263" r:id="rId9"/>
    <p:sldId id="261" r:id="rId10"/>
    <p:sldId id="268" r:id="rId11"/>
    <p:sldId id="267" r:id="rId12"/>
    <p:sldId id="271" r:id="rId13"/>
    <p:sldId id="272" r:id="rId14"/>
    <p:sldId id="269" r:id="rId15"/>
    <p:sldId id="273" r:id="rId16"/>
    <p:sldId id="274" r:id="rId17"/>
    <p:sldId id="264" r:id="rId18"/>
    <p:sldId id="265" r:id="rId19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0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8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8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7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4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3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9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6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1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102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78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06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47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57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31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socke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2F8D-47B1-40A5-87D5-B6A01F94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705" y="1095763"/>
            <a:ext cx="9773024" cy="1599050"/>
          </a:xfrm>
        </p:spPr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our Presentation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233A-BAB4-4358-BF96-7C67F406A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3797286"/>
            <a:ext cx="3739774" cy="89125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cse479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59C59-E784-46C5-B3E1-12A445BDBE7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08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2994DC-B8A2-41AD-A554-22A9513DFA0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A5C32-594B-427E-A072-918EF0C50378}"/>
              </a:ext>
            </a:extLst>
          </p:cNvPr>
          <p:cNvSpPr txBox="1"/>
          <p:nvPr/>
        </p:nvSpPr>
        <p:spPr>
          <a:xfrm>
            <a:off x="1479176" y="4052988"/>
            <a:ext cx="80323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						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Md. Arman Hossain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Lecturer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Department of Computer Science and Engineering , East West University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B6C12-A0B6-488B-AFA6-D0C177AAABE1}"/>
              </a:ext>
            </a:extLst>
          </p:cNvPr>
          <p:cNvSpPr txBox="1"/>
          <p:nvPr/>
        </p:nvSpPr>
        <p:spPr>
          <a:xfrm>
            <a:off x="905435" y="81310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Partho Sarker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2021 - 3 – 60 – 202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1BA1C-2B92-4905-BE5E-7AE37BBEDFDE}"/>
              </a:ext>
            </a:extLst>
          </p:cNvPr>
          <p:cNvSpPr txBox="1"/>
          <p:nvPr/>
        </p:nvSpPr>
        <p:spPr>
          <a:xfrm>
            <a:off x="7292790" y="81310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Tasniya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Aziza Tufa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2022 - 1 – 60 – 163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753D90-37EB-44B9-B129-C94A5B93A461}"/>
              </a:ext>
            </a:extLst>
          </p:cNvPr>
          <p:cNvSpPr txBox="1"/>
          <p:nvPr/>
        </p:nvSpPr>
        <p:spPr>
          <a:xfrm>
            <a:off x="4280653" y="813102"/>
            <a:ext cx="2756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Tonmoy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</a:t>
            </a:r>
          </a:p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– 1 – 60 – 004</a:t>
            </a:r>
          </a:p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 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12E3FB-CA62-4EBE-B5C8-C2331DEF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6" y="2805012"/>
            <a:ext cx="8906934" cy="73416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Name : 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/>
              <a:t>A Comparative Study of Laravel and Node.js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50309-E74B-4629-A66E-81A15CD07B57}"/>
              </a:ext>
            </a:extLst>
          </p:cNvPr>
          <p:cNvSpPr txBox="1"/>
          <p:nvPr/>
        </p:nvSpPr>
        <p:spPr>
          <a:xfrm>
            <a:off x="4280653" y="173643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Abrar Bin Habib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2023 - 3 – 60 – 021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6A922-34B0-438D-9D9B-8FB015B54452}"/>
              </a:ext>
            </a:extLst>
          </p:cNvPr>
          <p:cNvSpPr txBox="1"/>
          <p:nvPr/>
        </p:nvSpPr>
        <p:spPr>
          <a:xfrm>
            <a:off x="905435" y="1643675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Zaber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Mahmud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2022 - 3 – 60 </a:t>
            </a: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– 077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8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36FD-D742-4337-B2F8-C6F11AA2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12" y="46317"/>
            <a:ext cx="5864756" cy="901949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445F-133E-4C09-9BCE-49A28FB9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12" y="1568326"/>
            <a:ext cx="8946541" cy="4341408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Laravel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Architecture (MVC)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Laravel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vs Node.js Comparison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Laravel and Node.js Together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 &amp;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7FC14-A971-452B-9B0D-D1C3B0EFF110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421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3003-CB2C-47AF-8477-C9AC462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366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5D6F5-D4E9-463E-A543-046D8DAA97D8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848180-3C77-42FE-86A9-BBB3AE84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825" y="1360833"/>
            <a:ext cx="847200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is the process of creating websites and web applications using different technologies.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and Node.js are popular backend technologies used for building fast, secure, and scalable applications.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discusses their features, advantages, differences, and practical uses in modern web development.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help developers create efficient, dynamic, and                    user-friendly web applications.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Laravel and Node.js are widely used in the software industry for modern web development solutions.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4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FA57-A317-493C-B6E0-CCF98FD2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31" y="229192"/>
            <a:ext cx="5806422" cy="745409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Laravel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2CC3E-685A-4A3B-8CBB-C142370E00E0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9444B-28A1-4BC2-8FCE-4EB1B5EC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148" y="1863138"/>
            <a:ext cx="10550806" cy="235518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is an open-source PHP web application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created by Taylor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Otwell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2011.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follows the MVC (Model-View-Controller)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build secure and scalable web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tools for routing, authentication, and database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2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5956-1B61-4691-A6F5-EF7A5960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Architecture (MVC)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F61CB-8EB2-4B3C-8800-5C402ABAADEA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C76543-C257-4089-8D32-4786462D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234" y="1853248"/>
            <a:ext cx="954601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Laravel follows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MVC (Model-View-Controller)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data and database operations.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user interface and displays information.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Controller: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Controls user requests and connects Model with View.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 makes the application more organized, maintainable, and easier to develop. </a:t>
            </a:r>
          </a:p>
        </p:txBody>
      </p:sp>
    </p:spTree>
    <p:extLst>
      <p:ext uri="{BB962C8B-B14F-4D97-AF65-F5344CB8AC3E}">
        <p14:creationId xmlns:p14="http://schemas.microsoft.com/office/powerpoint/2010/main" val="260556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299C-F7A5-492D-9222-BF37B9E3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58" y="271462"/>
            <a:ext cx="7612375" cy="7191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Laravel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3E41A-83E6-481E-B1DC-9C3CC77D638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354ACE-738B-4ECB-A4B6-A0F1BD89D65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94317" y="1613127"/>
            <a:ext cx="926888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clean and organized code structure.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to build secure user login and registration systems.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Eloquent ORM: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database operations easier and faster.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Routing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simple and flexible URL management.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Features: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Protects applications from common web threats.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 Community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many resources and developer support. </a:t>
            </a:r>
          </a:p>
        </p:txBody>
      </p:sp>
    </p:spTree>
    <p:extLst>
      <p:ext uri="{BB962C8B-B14F-4D97-AF65-F5344CB8AC3E}">
        <p14:creationId xmlns:p14="http://schemas.microsoft.com/office/powerpoint/2010/main" val="213611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41B8-ECD5-4D00-B314-B10D7AC9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44" y="387873"/>
            <a:ext cx="8238565" cy="1054283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Node.js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23FAF-9423-4CD6-8388-686F0384CD4C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8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9CFAAE-2E89-4B56-B148-8F778D9324AC}"/>
              </a:ext>
            </a:extLst>
          </p:cNvPr>
          <p:cNvSpPr txBox="1">
            <a:spLocks/>
          </p:cNvSpPr>
          <p:nvPr/>
        </p:nvSpPr>
        <p:spPr>
          <a:xfrm>
            <a:off x="404310" y="1442156"/>
            <a:ext cx="2057399" cy="38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18FE795-F7B2-46AA-9BC5-20F9A74821E6}"/>
              </a:ext>
            </a:extLst>
          </p:cNvPr>
          <p:cNvSpPr txBox="1">
            <a:spLocks/>
          </p:cNvSpPr>
          <p:nvPr/>
        </p:nvSpPr>
        <p:spPr>
          <a:xfrm>
            <a:off x="404310" y="1526552"/>
            <a:ext cx="10702961" cy="2347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80B943-2EF6-4B86-B510-077FA4FAB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412" y="1442156"/>
            <a:ext cx="95732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is an open-source JavaScript runtime environment.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developers to run JavaScript outside the web browser.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was created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Ryan Dahl in 2009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built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V8 JavaScript 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is mainly used for building fast and scalable web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popular for developing APIs, real-time applications, and server-side solutions. </a:t>
            </a:r>
          </a:p>
        </p:txBody>
      </p:sp>
    </p:spTree>
    <p:extLst>
      <p:ext uri="{BB962C8B-B14F-4D97-AF65-F5344CB8AC3E}">
        <p14:creationId xmlns:p14="http://schemas.microsoft.com/office/powerpoint/2010/main" val="394374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111413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Node.js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BC57D-9224-4886-B2AE-377895ABB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0" y="1613434"/>
            <a:ext cx="109278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the Chrome V8 JavaScript Engine for high-speed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Non-blocking I/O: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multiple requests efficiently without slowing down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NPM (Node Package Manager):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thousands of reusable packages and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real-time features like chat apps and live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handle large numbers of users and requests.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Programming Language: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developers to use JavaScript for both frontend and backend. </a:t>
            </a:r>
          </a:p>
        </p:txBody>
      </p:sp>
    </p:spTree>
    <p:extLst>
      <p:ext uri="{BB962C8B-B14F-4D97-AF65-F5344CB8AC3E}">
        <p14:creationId xmlns:p14="http://schemas.microsoft.com/office/powerpoint/2010/main" val="16844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77" y="0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vs Node.js Comparison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666CB33-A31B-481E-BE5E-5F4B3984A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809523"/>
              </p:ext>
            </p:extLst>
          </p:nvPr>
        </p:nvGraphicFramePr>
        <p:xfrm>
          <a:off x="1761966" y="1304389"/>
          <a:ext cx="8288868" cy="51008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956">
                  <a:extLst>
                    <a:ext uri="{9D8B030D-6E8A-4147-A177-3AD203B41FA5}">
                      <a16:colId xmlns:a16="http://schemas.microsoft.com/office/drawing/2014/main" val="2227697762"/>
                    </a:ext>
                  </a:extLst>
                </a:gridCol>
                <a:gridCol w="2762956">
                  <a:extLst>
                    <a:ext uri="{9D8B030D-6E8A-4147-A177-3AD203B41FA5}">
                      <a16:colId xmlns:a16="http://schemas.microsoft.com/office/drawing/2014/main" val="3853127010"/>
                    </a:ext>
                  </a:extLst>
                </a:gridCol>
                <a:gridCol w="2762956">
                  <a:extLst>
                    <a:ext uri="{9D8B030D-6E8A-4147-A177-3AD203B41FA5}">
                      <a16:colId xmlns:a16="http://schemas.microsoft.com/office/drawing/2014/main" val="3973481186"/>
                    </a:ext>
                  </a:extLst>
                </a:gridCol>
              </a:tblGrid>
              <a:tr h="377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043415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 Runtime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71528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MVC (Model-View-Controller)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Event-driven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53939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performance for structured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 for real-time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458756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Eloquent ORM for database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MongoDB, MySQL, PostgreSQL etc.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26985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with PHP.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Server-side development with JavaScript.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7755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E-commerce, CMS, Enterprise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 apps, APIs, Streaming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7596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NPM (Node Package Manager).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47539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shopping website, Banking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chat app, Video streaming platform.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292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434917" y="160330"/>
            <a:ext cx="708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007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8892336" cy="11519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Laravel and Node.js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425AD5-4C9F-420E-8EA3-BD1E58562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623" y="1604682"/>
            <a:ext cx="870497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can be used as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backend framework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 logic and database management.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can handle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chat, notifications, and live updates.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can communicate through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manages user authentication, products, and transactions.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manages real-time communication and high-speed operations. </a:t>
            </a:r>
          </a:p>
        </p:txBody>
      </p:sp>
    </p:spTree>
    <p:extLst>
      <p:ext uri="{BB962C8B-B14F-4D97-AF65-F5344CB8AC3E}">
        <p14:creationId xmlns:p14="http://schemas.microsoft.com/office/powerpoint/2010/main" val="204401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864A6-98FF-71D3-83F2-33B1B0C7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FD1E-179C-33F1-C11A-7E2C9FDD9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423" y="330122"/>
            <a:ext cx="8892336" cy="7711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Into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BFE99-0190-2208-A501-847AB1E245B2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BFB700-85C3-AD6F-FE27-D8FCA75331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423" y="1867007"/>
            <a:ext cx="6230219" cy="7525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102DA2-1C7E-7384-34EA-523F129C5082}"/>
              </a:ext>
            </a:extLst>
          </p:cNvPr>
          <p:cNvSpPr txBox="1"/>
          <p:nvPr/>
        </p:nvSpPr>
        <p:spPr>
          <a:xfrm>
            <a:off x="201131" y="1319708"/>
            <a:ext cx="857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Laravel routing is clean and readable. One line maps a URL to a controller.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D61CB3-6090-0AAA-A31F-79F21F263736}"/>
              </a:ext>
            </a:extLst>
          </p:cNvPr>
          <p:cNvSpPr txBox="1"/>
          <p:nvPr/>
        </p:nvSpPr>
        <p:spPr>
          <a:xfrm>
            <a:off x="240911" y="2815216"/>
            <a:ext cx="8669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Just adding middleware('auth') protects this route. No extra code needed!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BF3F29-C372-EE82-D8E8-32934021A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23" y="3467028"/>
            <a:ext cx="7563906" cy="8383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9062F1-11D6-91D6-C6B8-AB7E0567C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23" y="5065935"/>
            <a:ext cx="8821381" cy="8383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F9D616F-E1DB-C9B9-13E4-0F0044344D3C}"/>
              </a:ext>
            </a:extLst>
          </p:cNvPr>
          <p:cNvSpPr txBox="1"/>
          <p:nvPr/>
        </p:nvSpPr>
        <p:spPr>
          <a:xfrm>
            <a:off x="240911" y="4500974"/>
            <a:ext cx="9038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 SQL required. Eloquent makes database queries simple and intuitive</a:t>
            </a:r>
          </a:p>
        </p:txBody>
      </p:sp>
    </p:spTree>
    <p:extLst>
      <p:ext uri="{BB962C8B-B14F-4D97-AF65-F5344CB8AC3E}">
        <p14:creationId xmlns:p14="http://schemas.microsoft.com/office/powerpoint/2010/main" val="1202322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4498-1061-7E4D-FCC3-F222BEDCC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20618-E4FB-D6C5-AAB5-81B339CE5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56" y="340458"/>
            <a:ext cx="8892336" cy="77111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Into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CEAF1-403A-C84E-5717-4EDBF5F88DA0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98D63-FE33-EED2-3EE4-33741EFA56F2}"/>
              </a:ext>
            </a:extLst>
          </p:cNvPr>
          <p:cNvSpPr txBox="1"/>
          <p:nvPr/>
        </p:nvSpPr>
        <p:spPr>
          <a:xfrm>
            <a:off x="305448" y="1598562"/>
            <a:ext cx="3802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Environment Variables: </a:t>
            </a:r>
            <a:r>
              <a:rPr lang="en-US" dirty="0"/>
              <a:t>Manages configuration securely using .env files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316414-7C36-A38E-E952-7671660AD2E4}"/>
              </a:ext>
            </a:extLst>
          </p:cNvPr>
          <p:cNvSpPr txBox="1"/>
          <p:nvPr/>
        </p:nvSpPr>
        <p:spPr>
          <a:xfrm>
            <a:off x="305448" y="3619984"/>
            <a:ext cx="40919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Real-Time (</a:t>
            </a:r>
            <a:r>
              <a:rPr lang="en-US" b="1" dirty="0">
                <a:hlinkClick r:id="rId2"/>
              </a:rPr>
              <a:t>Socket.io</a:t>
            </a:r>
            <a:r>
              <a:rPr lang="en-US" b="1" dirty="0"/>
              <a:t>): </a:t>
            </a:r>
            <a:r>
              <a:rPr lang="en-US" dirty="0"/>
              <a:t>Enables real-time bidirectional communication between clients and server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C3621A5-2803-BB86-C465-A31A6932A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43" y="4777471"/>
            <a:ext cx="3802528" cy="103941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63E4FB-DA35-326C-DA1F-ADCF189BCE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448" y="2638970"/>
            <a:ext cx="4782135" cy="83454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1D79445-0328-2567-B192-57C92F31B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771" y="4839579"/>
            <a:ext cx="4091918" cy="118707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30E4A6D-D849-2FFE-9E23-C4C70061CAB3}"/>
              </a:ext>
            </a:extLst>
          </p:cNvPr>
          <p:cNvSpPr txBox="1"/>
          <p:nvPr/>
        </p:nvSpPr>
        <p:spPr>
          <a:xfrm>
            <a:off x="7297893" y="3841998"/>
            <a:ext cx="4091918" cy="997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Async Operations: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Non-blocking I/O allows multiple database queries to run in parallel</a:t>
            </a:r>
            <a:r>
              <a:rPr lang="en-US" dirty="0"/>
              <a:t>.</a:t>
            </a:r>
            <a:endParaRPr lang="en-US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6C98586-E1E0-C02C-9096-983AEB33C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891" y="2571467"/>
            <a:ext cx="4299675" cy="106613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3C76D6C-A974-146E-C7B9-107F9AC95780}"/>
              </a:ext>
            </a:extLst>
          </p:cNvPr>
          <p:cNvSpPr txBox="1"/>
          <p:nvPr/>
        </p:nvSpPr>
        <p:spPr>
          <a:xfrm>
            <a:off x="7297893" y="1717188"/>
            <a:ext cx="4588659" cy="685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b="1" dirty="0">
                <a:solidFill>
                  <a:srgbClr val="F9FAFB"/>
                </a:solidFill>
                <a:effectLst/>
                <a:latin typeface="quote-cjk-patch"/>
              </a:rPr>
              <a:t>Error Handling: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error handling catches all application errors</a:t>
            </a:r>
            <a:endParaRPr lang="en-US" dirty="0">
              <a:solidFill>
                <a:srgbClr val="F9FAFB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761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263E-4E67-490D-AE28-9EF9D6C3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48222" cy="7410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 &amp;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46D10-994D-4E5A-ABFA-BFCB8901E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79" y="1536452"/>
            <a:ext cx="10394421" cy="45764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Online shopping platforms and payment systems.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Systems (CMS)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Blogs, news portals, and websites.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 management and internal systems.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&amp; Financial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transaction-based applications.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Node.js: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Chat applications and live notifications.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Development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Building fast and scalable backend APIs.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Video and audio streaming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user interaction platforms.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F3DEC-F1D6-406D-BED5-A9226D5D3FDA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774335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422FB-6D63-2A8F-E248-2B35D700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F468-CFD1-FA4D-BF57-F24A3A09D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47" y="374564"/>
            <a:ext cx="9048222" cy="7410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Security Statistics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CD2D83-4A98-4CB4-EA2C-82DBB7D9FF20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</a:p>
        </p:txBody>
      </p:sp>
      <p:pic>
        <p:nvPicPr>
          <p:cNvPr id="7" name="Picture 6" descr="No description available.">
            <a:extLst>
              <a:ext uri="{FF2B5EF4-FFF2-40B4-BE49-F238E27FC236}">
                <a16:creationId xmlns:a16="http://schemas.microsoft.com/office/drawing/2014/main" id="{04A25D28-ECD0-3372-6DF9-BF00F5EC4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46428"/>
            <a:ext cx="12192000" cy="561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71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93ED-6588-54B3-2B3E-DCB1723B8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2F50-5C67-1AE2-43E0-BB739DAD2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447" y="374564"/>
            <a:ext cx="9048222" cy="7410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JS Security Statistics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3D2B5-12CF-F942-E377-805F49C72DFE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</a:p>
        </p:txBody>
      </p:sp>
      <p:pic>
        <p:nvPicPr>
          <p:cNvPr id="3" name="Picture 2" descr="No description available.">
            <a:extLst>
              <a:ext uri="{FF2B5EF4-FFF2-40B4-BE49-F238E27FC236}">
                <a16:creationId xmlns:a16="http://schemas.microsoft.com/office/drawing/2014/main" id="{3CF4AB75-05F5-635B-FA87-C23F491AB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4162"/>
            <a:ext cx="12192000" cy="570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014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7A15-B790-4EC0-820D-C7B98D37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3361113" cy="89198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2187C-D79D-47AD-A6C7-EACDE2710E76}"/>
              </a:ext>
            </a:extLst>
          </p:cNvPr>
          <p:cNvSpPr txBox="1"/>
          <p:nvPr/>
        </p:nvSpPr>
        <p:spPr>
          <a:xfrm>
            <a:off x="10479741" y="160330"/>
            <a:ext cx="66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443EFD-3525-43D1-BCBD-EBB912094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5" y="1344706"/>
            <a:ext cx="106822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and Node.js are two powerful technologies used for modern web development.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a secure, structured, and efficient framework for building web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offers high performance and real-time capabilities for scalable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have their own strengths and can be used together to create fast, secure, and powerful solutions.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technologies helps developers build modern and user-friendly web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652984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FFAD-14F2-4FF3-B232-63062842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C0E00-F616-4C60-95EE-03171E714994}"/>
              </a:ext>
            </a:extLst>
          </p:cNvPr>
          <p:cNvSpPr txBox="1"/>
          <p:nvPr/>
        </p:nvSpPr>
        <p:spPr>
          <a:xfrm>
            <a:off x="10434918" y="179294"/>
            <a:ext cx="833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40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2568</TotalTime>
  <Words>1141</Words>
  <Application>Microsoft Office PowerPoint</Application>
  <PresentationFormat>Widescreen</PresentationFormat>
  <Paragraphs>193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Century Gothic</vt:lpstr>
      <vt:lpstr>quote-cjk-patch</vt:lpstr>
      <vt:lpstr>Times New Roman</vt:lpstr>
      <vt:lpstr>Wingdings 3</vt:lpstr>
      <vt:lpstr>Ion</vt:lpstr>
      <vt:lpstr>Welcome to our Presentation </vt:lpstr>
      <vt:lpstr>Topic Name : “A Comparative Study of Laravel and Node.js“.</vt:lpstr>
      <vt:lpstr> Table of Contents</vt:lpstr>
      <vt:lpstr>Introduction</vt:lpstr>
      <vt:lpstr>Overview of Laravel</vt:lpstr>
      <vt:lpstr>Laravel Architecture (MVC)</vt:lpstr>
      <vt:lpstr>Features &amp; Advantages of Laravel</vt:lpstr>
      <vt:lpstr>Introduction to Node.js</vt:lpstr>
      <vt:lpstr>Features &amp; Advantages of Node.js</vt:lpstr>
      <vt:lpstr>Laravel vs Node.js Comparison</vt:lpstr>
      <vt:lpstr>Using Laravel and Node.js Together</vt:lpstr>
      <vt:lpstr>Laravel Into Action</vt:lpstr>
      <vt:lpstr>Node js Into Action</vt:lpstr>
      <vt:lpstr>Applications of Laravel &amp; Node.js</vt:lpstr>
      <vt:lpstr>Laravel Security Statistics</vt:lpstr>
      <vt:lpstr>Node JS Security Statistics</vt:lpstr>
      <vt:lpstr>Conclusion</vt:lpstr>
      <vt:lpstr>                      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my Presentation</dc:title>
  <dc:creator>ASUS</dc:creator>
  <cp:lastModifiedBy>Abrar Bin Habib</cp:lastModifiedBy>
  <cp:revision>15</cp:revision>
  <cp:lastPrinted>2025-12-17T17:08:56Z</cp:lastPrinted>
  <dcterms:modified xsi:type="dcterms:W3CDTF">2026-08-20T17:45:59Z</dcterms:modified>
</cp:coreProperties>
</file>